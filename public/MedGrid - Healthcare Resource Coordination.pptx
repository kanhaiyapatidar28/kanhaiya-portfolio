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Playfair Display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Inter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B85E2B-FAAE-4854-8AAC-EDC974761A80}">
  <a:tblStyle styleId="{78B85E2B-FAAE-4854-8AAC-EDC974761A8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PlayfairDisplay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PlayfairDisplay-italic.fntdata"/><Relationship Id="rId23" Type="http://schemas.openxmlformats.org/officeDocument/2006/relationships/font" Target="fonts/PlayfairDispl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regular.fntdata"/><Relationship Id="rId25" Type="http://schemas.openxmlformats.org/officeDocument/2006/relationships/font" Target="fonts/PlayfairDisplay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Medium-bold.fntdata"/><Relationship Id="rId30" Type="http://schemas.openxmlformats.org/officeDocument/2006/relationships/font" Target="fonts/InterMedium-regular.fntdata"/><Relationship Id="rId11" Type="http://schemas.openxmlformats.org/officeDocument/2006/relationships/slide" Target="slides/slide5.xml"/><Relationship Id="rId33" Type="http://schemas.openxmlformats.org/officeDocument/2006/relationships/font" Target="fonts/Inter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InterMedium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2.png"/><Relationship Id="rId13" Type="http://schemas.openxmlformats.org/officeDocument/2006/relationships/image" Target="../media/image31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6.png"/><Relationship Id="rId14" Type="http://schemas.openxmlformats.org/officeDocument/2006/relationships/image" Target="../media/image29.png"/><Relationship Id="rId5" Type="http://schemas.openxmlformats.org/officeDocument/2006/relationships/image" Target="../media/image13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32.png"/><Relationship Id="rId5" Type="http://schemas.openxmlformats.org/officeDocument/2006/relationships/image" Target="../media/image16.png"/><Relationship Id="rId6" Type="http://schemas.openxmlformats.org/officeDocument/2006/relationships/image" Target="../media/image23.png"/><Relationship Id="rId7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50.png"/><Relationship Id="rId10" Type="http://schemas.openxmlformats.org/officeDocument/2006/relationships/image" Target="../media/image24.png"/><Relationship Id="rId13" Type="http://schemas.openxmlformats.org/officeDocument/2006/relationships/image" Target="../media/image28.png"/><Relationship Id="rId1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7.png"/><Relationship Id="rId9" Type="http://schemas.openxmlformats.org/officeDocument/2006/relationships/image" Target="../media/image44.png"/><Relationship Id="rId15" Type="http://schemas.openxmlformats.org/officeDocument/2006/relationships/image" Target="../media/image38.png"/><Relationship Id="rId14" Type="http://schemas.openxmlformats.org/officeDocument/2006/relationships/image" Target="../media/image34.png"/><Relationship Id="rId17" Type="http://schemas.openxmlformats.org/officeDocument/2006/relationships/image" Target="../media/image35.png"/><Relationship Id="rId16" Type="http://schemas.openxmlformats.org/officeDocument/2006/relationships/image" Target="../media/image40.png"/><Relationship Id="rId5" Type="http://schemas.openxmlformats.org/officeDocument/2006/relationships/image" Target="../media/image26.png"/><Relationship Id="rId6" Type="http://schemas.openxmlformats.org/officeDocument/2006/relationships/image" Target="../media/image22.png"/><Relationship Id="rId7" Type="http://schemas.openxmlformats.org/officeDocument/2006/relationships/image" Target="../media/image25.png"/><Relationship Id="rId8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51.png"/><Relationship Id="rId9" Type="http://schemas.openxmlformats.org/officeDocument/2006/relationships/image" Target="../media/image36.png"/><Relationship Id="rId5" Type="http://schemas.openxmlformats.org/officeDocument/2006/relationships/image" Target="../media/image39.png"/><Relationship Id="rId6" Type="http://schemas.openxmlformats.org/officeDocument/2006/relationships/image" Target="../media/image33.png"/><Relationship Id="rId7" Type="http://schemas.openxmlformats.org/officeDocument/2006/relationships/image" Target="../media/image52.png"/><Relationship Id="rId8" Type="http://schemas.openxmlformats.org/officeDocument/2006/relationships/image" Target="../media/image3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8.png"/><Relationship Id="rId6" Type="http://schemas.openxmlformats.org/officeDocument/2006/relationships/image" Target="../media/image4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56.png"/><Relationship Id="rId5" Type="http://schemas.openxmlformats.org/officeDocument/2006/relationships/image" Target="../media/image49.png"/><Relationship Id="rId6" Type="http://schemas.openxmlformats.org/officeDocument/2006/relationships/image" Target="../media/image62.png"/><Relationship Id="rId7" Type="http://schemas.openxmlformats.org/officeDocument/2006/relationships/image" Target="../media/image64.png"/><Relationship Id="rId8" Type="http://schemas.openxmlformats.org/officeDocument/2006/relationships/image" Target="../media/image4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53.png"/><Relationship Id="rId5" Type="http://schemas.openxmlformats.org/officeDocument/2006/relationships/image" Target="../media/image55.png"/><Relationship Id="rId6" Type="http://schemas.openxmlformats.org/officeDocument/2006/relationships/image" Target="../media/image58.png"/><Relationship Id="rId7" Type="http://schemas.openxmlformats.org/officeDocument/2006/relationships/image" Target="../media/image61.png"/><Relationship Id="rId8" Type="http://schemas.openxmlformats.org/officeDocument/2006/relationships/image" Target="../media/image5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54.png"/><Relationship Id="rId5" Type="http://schemas.openxmlformats.org/officeDocument/2006/relationships/image" Target="../media/image47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6837" y="1710779"/>
            <a:ext cx="18383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385661" y="2263229"/>
            <a:ext cx="5420677" cy="176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1B433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Smarter Care.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600" u="none" cap="none" strike="noStrike">
                <a:solidFill>
                  <a:srgbClr val="1B433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Faster </a:t>
            </a:r>
            <a:r>
              <a:rPr b="1" i="1" lang="en-US" sz="6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Saves.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4309020"/>
            <a:ext cx="7620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Coordinate transfers, manage equipment, and sync ICU beds across your city in one unified live network.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0" y="-1352550"/>
            <a:ext cx="9525000" cy="95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4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62100"/>
            <a:ext cx="5143500" cy="462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62100"/>
            <a:ext cx="5143500" cy="462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6325" y="24098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6325" y="48196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790700" y="2143125"/>
            <a:ext cx="399049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Information Silos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790700" y="2657475"/>
            <a:ext cx="38004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Families visit 3-5 hospitals before finding a bed. Every minute increases mortality.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695450" y="4410075"/>
            <a:ext cx="409051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B4332"/>
                </a:solidFill>
                <a:latin typeface="Inter"/>
                <a:ea typeface="Inter"/>
                <a:cs typeface="Inter"/>
                <a:sym typeface="Inter"/>
              </a:rPr>
              <a:t>Manual Coordination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695450" y="4924425"/>
            <a:ext cx="38957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Coordination takes 30-90 mins. Resources remain hidden behind manual phone calls.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B433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Fragmented Crisis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812107"/>
            <a:ext cx="1981200" cy="2129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33700" y="2812107"/>
            <a:ext cx="1981200" cy="2129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05400" y="2812107"/>
            <a:ext cx="1981200" cy="2129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77100" y="2812107"/>
            <a:ext cx="1981200" cy="2129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48800" y="2812107"/>
            <a:ext cx="1981200" cy="2129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47800" y="312643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042511" y="3938587"/>
            <a:ext cx="142017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Reception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076325" y="4331642"/>
            <a:ext cx="13525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Manage Bed Counts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19500" y="312643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3214211" y="3938587"/>
            <a:ext cx="142017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Supervisor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3248025" y="4331642"/>
            <a:ext cx="13525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Verify &amp; Fraud Check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91200" y="312643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385911" y="3938587"/>
            <a:ext cx="142017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Patient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419725" y="4331642"/>
            <a:ext cx="13525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Find Real-time Care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62900" y="312643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557611" y="3938587"/>
            <a:ext cx="142017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Ambulance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591425" y="4331642"/>
            <a:ext cx="13525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Live Dispatch &amp; GPS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34600" y="312643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9729311" y="3938587"/>
            <a:ext cx="142017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Admin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763125" y="4331642"/>
            <a:ext cx="13525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Global Analytics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90675" y="3288357"/>
            <a:ext cx="323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81425" y="3288357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72175" y="3288357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086725" y="3288357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296525" y="3288357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B433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MedGrid Ecosystem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4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81262"/>
            <a:ext cx="106680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214687"/>
            <a:ext cx="106680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948112"/>
            <a:ext cx="106680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681537"/>
            <a:ext cx="106680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1047750" y="2681287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Client Layer: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047750" y="3414712"/>
            <a:ext cx="971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API Gateway: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047750" y="4148137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Business Logic: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047750" y="4881562"/>
            <a:ext cx="1285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Data Persistence: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B433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Unbreakable Architecture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4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2637" y="2447925"/>
            <a:ext cx="27432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6337" y="2447925"/>
            <a:ext cx="23336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10462" y="2447925"/>
            <a:ext cx="26289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24062" y="3209925"/>
            <a:ext cx="26955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10137" y="3209925"/>
            <a:ext cx="20478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48512" y="3209925"/>
            <a:ext cx="30194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86300" y="3971925"/>
            <a:ext cx="28194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762000" y="4924425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5C5C"/>
                </a:solidFill>
                <a:latin typeface="Inter Medium"/>
                <a:ea typeface="Inter Medium"/>
                <a:cs typeface="Inter Medium"/>
                <a:sym typeface="Inter Medium"/>
              </a:rPr>
              <a:t>Engineered for sub-10ms response times under peak emergency load.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328862" y="2590800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262562" y="25908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786687" y="2590800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300287" y="3352800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186362" y="33528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424737" y="3352800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962525" y="4114800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B433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Performance Stack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4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726805"/>
            <a:ext cx="10668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0560" y="1645294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04270" y="1645294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77980" y="1645294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51690" y="1645294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762000" y="2486025"/>
            <a:ext cx="10668000" cy="19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0" name="Google Shape;18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3726805"/>
            <a:ext cx="10668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703328" y="2457450"/>
            <a:ext cx="246421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Request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762000" y="2850505"/>
            <a:ext cx="23468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Reception triggers shortage alert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3477037" y="2457450"/>
            <a:ext cx="246421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Filter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3535709" y="2850505"/>
            <a:ext cx="23468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MedGrid identifies matching beds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250747" y="2457450"/>
            <a:ext cx="246421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Notify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309419" y="2850505"/>
            <a:ext cx="23468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Automated Twilio Call to receiver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9024457" y="2457450"/>
            <a:ext cx="246421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Accept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9083129" y="2850505"/>
            <a:ext cx="234687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One-click acknowledgement &amp; GPS dispatch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B433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Inter-Network Mobility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4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71500"/>
            <a:ext cx="4572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762000" y="1123950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433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Bilingual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1B433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AI Voice Agent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762000" y="1971675"/>
            <a:ext cx="4572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LLaMA 3.1 powered calls speaking </a:t>
            </a:r>
            <a:r>
              <a:rPr b="1" i="0" lang="en-US" sz="150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Hindi &amp; English</a:t>
            </a:r>
            <a:r>
              <a:rPr b="0" i="0" lang="en-US" sz="150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. Real-time reasoning using live PostgreSQL data—not mock data.</a:t>
            </a:r>
            <a:endParaRPr/>
          </a:p>
        </p:txBody>
      </p:sp>
      <p:pic>
        <p:nvPicPr>
          <p:cNvPr descr="image.png" id="198" name="Google Shape;19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286125"/>
            <a:ext cx="14287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962025" y="3609975"/>
            <a:ext cx="4171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"Indore mein Medanta Hospital mein 12 ICU bed khali hain. Call connect karne ke liye 1 dabaye."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4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490662"/>
            <a:ext cx="4733925" cy="477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6925" y="1847850"/>
            <a:ext cx="20002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7675" y="1847850"/>
            <a:ext cx="3362325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6925" y="3971925"/>
            <a:ext cx="20002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7675" y="3971925"/>
            <a:ext cx="3362325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490662"/>
            <a:ext cx="4733925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6191250" y="2162175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B433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07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191250" y="3190875"/>
            <a:ext cx="1371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8D5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HOSPITALS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8382000" y="2162175"/>
            <a:ext cx="273367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B433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335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8382000" y="3190875"/>
            <a:ext cx="2733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8D5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ICU UNITS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191250" y="4286250"/>
            <a:ext cx="1371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B433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28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191250" y="5314950"/>
            <a:ext cx="1371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8D5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DOCTORS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8382000" y="4286250"/>
            <a:ext cx="273367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100%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8382000" y="5314950"/>
            <a:ext cx="2733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CITY COVERAGE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B433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MVP: The Indore Heartbeat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4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6" name="Google Shape;226;p21"/>
          <p:cNvGraphicFramePr/>
          <p:nvPr/>
        </p:nvGraphicFramePr>
        <p:xfrm>
          <a:off x="762000" y="2176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{78B85E2B-FAAE-4854-8AAC-EDC974761A80}</a:tableStyleId>
              </a:tblPr>
              <a:tblGrid>
                <a:gridCol w="2909450"/>
                <a:gridCol w="3167950"/>
                <a:gridCol w="4590600"/>
              </a:tblGrid>
              <a:tr h="68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B433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Stream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B433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B433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Target Audience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B433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SaaS Subscription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Tiered Monthly Fee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Private Multi-Specialty Hospitals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B433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Govt Licensing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Annual City Contract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State Health Departments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B433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Analytics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Premium API Access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Healthcare Research Institutions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B433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Dispatch Fee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 Trip commission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Private Ambulance Fleets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7" name="Google Shape;227;p21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B433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Sustainability &amp; Scale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4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6125" y="3224212"/>
            <a:ext cx="290512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3224212"/>
            <a:ext cx="2428875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1425416" y="1100137"/>
            <a:ext cx="9341167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B433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Let's Save Lives Together.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4429125" y="2309812"/>
            <a:ext cx="3333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Ready for Pan-India Scalability.</a:t>
            </a:r>
            <a:endParaRPr/>
          </a:p>
        </p:txBody>
      </p:sp>
      <p:pic>
        <p:nvPicPr>
          <p:cNvPr descr="image.png" id="237" name="Google Shape;23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81625" y="4291012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81400" y="33956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72275" y="3395662"/>
            <a:ext cx="1143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4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/>
          <p:nvPr/>
        </p:nvSpPr>
        <p:spPr>
          <a:xfrm>
            <a:off x="762000" y="1781175"/>
            <a:ext cx="10668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762000" y="2724150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762000" y="3495675"/>
            <a:ext cx="10668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762000" y="4438650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762000" y="271462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762000" y="271462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762000" y="348615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762000" y="348615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762000" y="442912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762000" y="442912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762000" y="520065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762000" y="520065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7" name="Google Shape;2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097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1857375" y="1924050"/>
            <a:ext cx="9572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https://static.vecteezy.com/system/resources/thumbnails/071/514/380/small_2x/3d-rendering-of-a-golden-and-silver-caduceus-a-symbol-of-medicine-and-healthcare-free-png.png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1857375" y="2343150"/>
            <a:ext cx="957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260" name="Google Shape;26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8670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1857375" y="2874168"/>
            <a:ext cx="9572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https://www.mdpi.com/information/information-16-00106/article_deploy/html/images/information-16-00106-g001-550.jpg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1857375" y="3107531"/>
            <a:ext cx="957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www.mdpi.com</a:t>
            </a:r>
            <a:endParaRPr/>
          </a:p>
        </p:txBody>
      </p:sp>
      <p:pic>
        <p:nvPicPr>
          <p:cNvPr descr="image.png" id="263" name="Google Shape;26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7242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1857375" y="3638550"/>
            <a:ext cx="9572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https://static.vecteezy.com/system/resources/thumbnails/070/127/422/small/isometric-ambulance-render-against-transparent-space-a-beacon-of-assistance-and-quick-response-png.png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1857375" y="4057650"/>
            <a:ext cx="957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266" name="Google Shape;26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5815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/>
        </p:nvSpPr>
        <p:spPr>
          <a:xfrm>
            <a:off x="1857375" y="4588668"/>
            <a:ext cx="9572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https://st2.depositphotos.com/89930652/86319/i/450/depositphotos_863199852-stock-photo-green-gradient-sound-wave-pattern.jpg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1857375" y="4822031"/>
            <a:ext cx="957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depositphotos.com</a:t>
            </a:r>
            <a:endParaRPr/>
          </a:p>
        </p:txBody>
      </p:sp>
      <p:pic>
        <p:nvPicPr>
          <p:cNvPr descr="image.png" id="269" name="Google Shape;26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53530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 txBox="1"/>
          <p:nvPr/>
        </p:nvSpPr>
        <p:spPr>
          <a:xfrm>
            <a:off x="1857375" y="5360193"/>
            <a:ext cx="9572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https://png.pngtree.com/png-clipart/20250119/original/pngtree-hospital-building-3d-illustration-png-image_20109507.png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1857375" y="5593556"/>
            <a:ext cx="957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762000" y="571500"/>
            <a:ext cx="11201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B433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