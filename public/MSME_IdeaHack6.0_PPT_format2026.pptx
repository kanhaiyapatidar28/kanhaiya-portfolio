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Comfortaa" pitchFamily="2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940" y="36"/>
      </p:cViewPr>
      <p:guideLst>
        <p:guide orient="horz" pos="1620"/>
        <p:guide pos="28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font" Target="fonts/font2.fntdata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1.fntdata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4.png" /><Relationship Id="rId4" Type="http://schemas.openxmlformats.org/officeDocument/2006/relationships/image" Target="../media/image1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.png" /><Relationship Id="rId5" Type="http://schemas.openxmlformats.org/officeDocument/2006/relationships/image" Target="../media/image8.jpeg" /><Relationship Id="rId4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title"/>
          </p:nvPr>
        </p:nvSpPr>
        <p:spPr>
          <a:xfrm>
            <a:off x="1416685" y="130175"/>
            <a:ext cx="7010400" cy="584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IN" altLang="en-GB" sz="1600" b="1" dirty="0">
                <a:latin typeface="Comfortaa"/>
                <a:ea typeface="Comfortaa"/>
                <a:cs typeface="Comfortaa"/>
                <a:sym typeface="Comfortaa"/>
              </a:rPr>
              <a:t>Prestige Institute of Engineering Management and Research Indore MP </a:t>
            </a:r>
            <a:r>
              <a:rPr lang="en-GB" sz="1600" b="1" dirty="0">
                <a:latin typeface="Comfortaa"/>
                <a:ea typeface="Comfortaa"/>
                <a:cs typeface="Comfortaa"/>
                <a:sym typeface="Comfortaa"/>
              </a:rPr>
              <a:t>  </a:t>
            </a:r>
            <a:endParaRPr sz="1600" b="1" dirty="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59" name="Google Shape;59;p1"/>
          <p:cNvCxnSpPr/>
          <p:nvPr/>
        </p:nvCxnSpPr>
        <p:spPr>
          <a:xfrm>
            <a:off x="0" y="5156100"/>
            <a:ext cx="9156600" cy="20400"/>
          </a:xfrm>
          <a:prstGeom prst="straightConnector1">
            <a:avLst/>
          </a:prstGeom>
          <a:noFill/>
          <a:ln w="381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" name="Google Shape;60;p1"/>
          <p:cNvSpPr/>
          <p:nvPr/>
        </p:nvSpPr>
        <p:spPr>
          <a:xfrm>
            <a:off x="8659925" y="96750"/>
            <a:ext cx="356700" cy="369300"/>
          </a:xfrm>
          <a:prstGeom prst="ellipse">
            <a:avLst/>
          </a:prstGeom>
          <a:solidFill>
            <a:srgbClr val="990000"/>
          </a:solidFill>
          <a:ln w="952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8659925" y="81300"/>
            <a:ext cx="35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1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300" y="4373245"/>
            <a:ext cx="3334385" cy="7677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76300"/>
            <a:ext cx="6100445" cy="35090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685" y="1666875"/>
            <a:ext cx="3282315" cy="3474085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6210935" y="852805"/>
            <a:ext cx="2462530" cy="692150"/>
            <a:chOff x="9781" y="1343"/>
            <a:chExt cx="3878" cy="1090"/>
          </a:xfrm>
        </p:grpSpPr>
        <p:sp>
          <p:nvSpPr>
            <p:cNvPr id="7" name="Text Box 6"/>
            <p:cNvSpPr txBox="1"/>
            <p:nvPr/>
          </p:nvSpPr>
          <p:spPr>
            <a:xfrm>
              <a:off x="9781" y="1380"/>
              <a:ext cx="3878" cy="99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l"/>
              <a:r>
                <a:rPr lang="en-IN" altLang="en-US"/>
                <a:t>Submitted Idea Reference No. - 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9841" y="1343"/>
              <a:ext cx="3797" cy="1091"/>
            </a:xfrm>
            <a:prstGeom prst="round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0955" y="0"/>
            <a:ext cx="1219835" cy="770255"/>
            <a:chOff x="729" y="6400"/>
            <a:chExt cx="2244" cy="1452"/>
          </a:xfrm>
        </p:grpSpPr>
        <p:pic>
          <p:nvPicPr>
            <p:cNvPr id="2" name="Picture 1" descr="PIEMR_logo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2" y="6454"/>
              <a:ext cx="2009" cy="1289"/>
            </a:xfrm>
            <a:prstGeom prst="rect">
              <a:avLst/>
            </a:prstGeom>
          </p:spPr>
        </p:pic>
        <p:sp>
          <p:nvSpPr>
            <p:cNvPr id="10" name="Rounded Rectangle 9"/>
            <p:cNvSpPr/>
            <p:nvPr/>
          </p:nvSpPr>
          <p:spPr>
            <a:xfrm>
              <a:off x="729" y="6400"/>
              <a:ext cx="2244" cy="1452"/>
            </a:xfrm>
            <a:prstGeom prst="round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>
            <a:spLocks noGrp="1"/>
          </p:cNvSpPr>
          <p:nvPr>
            <p:ph type="title"/>
          </p:nvPr>
        </p:nvSpPr>
        <p:spPr>
          <a:xfrm>
            <a:off x="0" y="3461950"/>
            <a:ext cx="3029400" cy="8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600" dirty="0">
                <a:latin typeface="Comfortaa"/>
                <a:ea typeface="Comfortaa"/>
                <a:cs typeface="Comfortaa"/>
                <a:sym typeface="Comfortaa"/>
              </a:rPr>
              <a:t>  </a:t>
            </a:r>
            <a:endParaRPr sz="1600" dirty="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56" name="Google Shape;56;p1"/>
          <p:cNvCxnSpPr/>
          <p:nvPr/>
        </p:nvCxnSpPr>
        <p:spPr>
          <a:xfrm rot="10800000" flipH="1">
            <a:off x="2250900" y="2135975"/>
            <a:ext cx="4642200" cy="10800"/>
          </a:xfrm>
          <a:prstGeom prst="straightConnector1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" name="Google Shape;57;p1"/>
          <p:cNvSpPr/>
          <p:nvPr/>
        </p:nvSpPr>
        <p:spPr>
          <a:xfrm>
            <a:off x="4199100" y="304350"/>
            <a:ext cx="745800" cy="7236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244640" y="481500"/>
            <a:ext cx="745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1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LOGO</a:t>
            </a:r>
            <a:endParaRPr sz="1200" b="1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59" name="Google Shape;59;p1"/>
          <p:cNvCxnSpPr/>
          <p:nvPr/>
        </p:nvCxnSpPr>
        <p:spPr>
          <a:xfrm>
            <a:off x="0" y="5156100"/>
            <a:ext cx="9156600" cy="20400"/>
          </a:xfrm>
          <a:prstGeom prst="straightConnector1">
            <a:avLst/>
          </a:prstGeom>
          <a:noFill/>
          <a:ln w="381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" name="Google Shape;60;p1"/>
          <p:cNvSpPr/>
          <p:nvPr/>
        </p:nvSpPr>
        <p:spPr>
          <a:xfrm>
            <a:off x="8659925" y="96750"/>
            <a:ext cx="356700" cy="369300"/>
          </a:xfrm>
          <a:prstGeom prst="ellipse">
            <a:avLst/>
          </a:prstGeom>
          <a:solidFill>
            <a:srgbClr val="990000"/>
          </a:solidFill>
          <a:ln w="952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8659925" y="81300"/>
            <a:ext cx="35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1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0" y="1408125"/>
            <a:ext cx="9016500" cy="722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3520" b="0" i="0" u="none" strike="noStrike" cap="none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Name of Technology</a:t>
            </a:r>
            <a:r>
              <a:rPr lang="en-IN" altLang="en-GB" sz="3520" b="0" i="0" u="none" strike="noStrike" cap="none" dirty="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</a:p>
        </p:txBody>
      </p:sp>
      <p:sp>
        <p:nvSpPr>
          <p:cNvPr id="63" name="Google Shape;63;p1"/>
          <p:cNvSpPr txBox="1"/>
          <p:nvPr/>
        </p:nvSpPr>
        <p:spPr>
          <a:xfrm>
            <a:off x="348625" y="2135975"/>
            <a:ext cx="8395800" cy="827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(name of </a:t>
            </a:r>
            <a:r>
              <a:rPr lang="en-IN" altLang="en-GB" sz="1400" b="0" i="0" u="none" strike="noStrike" cap="none" dirty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IDEA /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product/project)</a:t>
            </a:r>
            <a:endParaRPr sz="1400" b="0" i="0" u="none" strike="noStrike" cap="none" dirty="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Note: This is for reference only and applicants may choose to build presentation around this reference pitch deck.</a:t>
            </a:r>
            <a:endParaRPr sz="1400" b="0" i="0" u="none" strike="noStrike" cap="none" dirty="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780" y="4519295"/>
            <a:ext cx="2709545" cy="624205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51435" y="52705"/>
            <a:ext cx="1052195" cy="671195"/>
            <a:chOff x="81" y="0"/>
            <a:chExt cx="1824" cy="1200"/>
          </a:xfrm>
        </p:grpSpPr>
        <p:pic>
          <p:nvPicPr>
            <p:cNvPr id="2" name="Picture 1" descr="PIEMR_logo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2" y="51"/>
              <a:ext cx="1613" cy="1035"/>
            </a:xfrm>
            <a:prstGeom prst="rect">
              <a:avLst/>
            </a:prstGeom>
          </p:spPr>
        </p:pic>
        <p:sp>
          <p:nvSpPr>
            <p:cNvPr id="10" name="Rounded Rectangle 9"/>
            <p:cNvSpPr/>
            <p:nvPr/>
          </p:nvSpPr>
          <p:spPr>
            <a:xfrm>
              <a:off x="81" y="0"/>
              <a:ext cx="1824" cy="1200"/>
            </a:xfrm>
            <a:prstGeom prst="round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>
            <a:spLocks noGrp="1"/>
          </p:cNvSpPr>
          <p:nvPr>
            <p:ph type="title"/>
          </p:nvPr>
        </p:nvSpPr>
        <p:spPr>
          <a:xfrm>
            <a:off x="311700" y="56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020">
                <a:latin typeface="Comfortaa"/>
                <a:ea typeface="Comfortaa"/>
                <a:cs typeface="Comfortaa"/>
                <a:sym typeface="Comfortaa"/>
              </a:rPr>
              <a:t>Problem statement</a:t>
            </a:r>
            <a:endParaRPr sz="302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0" name="Google Shape;70;p2"/>
          <p:cNvSpPr txBox="1">
            <a:spLocks noGrp="1"/>
          </p:cNvSpPr>
          <p:nvPr>
            <p:ph type="body" idx="1"/>
          </p:nvPr>
        </p:nvSpPr>
        <p:spPr>
          <a:xfrm>
            <a:off x="464250" y="1845750"/>
            <a:ext cx="4496100" cy="22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GB" dirty="0">
                <a:latin typeface="Comfortaa"/>
                <a:ea typeface="Comfortaa"/>
                <a:cs typeface="Comfortaa"/>
                <a:sym typeface="Comfortaa"/>
              </a:rPr>
              <a:t>State the problem you are trying to solve briefly explaining how customers/user encounter it and validating it will real-life examples.</a:t>
            </a:r>
            <a:endParaRPr dirty="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71" name="Google Shape;71;p2"/>
          <p:cNvCxnSpPr/>
          <p:nvPr/>
        </p:nvCxnSpPr>
        <p:spPr>
          <a:xfrm>
            <a:off x="2710543" y="1137600"/>
            <a:ext cx="3812721" cy="0"/>
          </a:xfrm>
          <a:prstGeom prst="straightConnector1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2" name="Google Shape;72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861450" y="1845750"/>
            <a:ext cx="2891325" cy="22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2"/>
          <p:cNvSpPr txBox="1"/>
          <p:nvPr/>
        </p:nvSpPr>
        <p:spPr>
          <a:xfrm>
            <a:off x="6636900" y="2756250"/>
            <a:ext cx="1340400" cy="4002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Insert Image</a:t>
            </a:r>
            <a:endParaRPr sz="1400" b="0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8659925" y="96750"/>
            <a:ext cx="356700" cy="369300"/>
          </a:xfrm>
          <a:prstGeom prst="ellipse">
            <a:avLst/>
          </a:prstGeom>
          <a:solidFill>
            <a:srgbClr val="990000"/>
          </a:solidFill>
          <a:ln w="952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76" name="Google Shape;76;p2"/>
          <p:cNvCxnSpPr/>
          <p:nvPr/>
        </p:nvCxnSpPr>
        <p:spPr>
          <a:xfrm>
            <a:off x="0" y="5156100"/>
            <a:ext cx="9156600" cy="20400"/>
          </a:xfrm>
          <a:prstGeom prst="straightConnector1">
            <a:avLst/>
          </a:prstGeom>
          <a:noFill/>
          <a:ln w="381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p2"/>
          <p:cNvSpPr txBox="1"/>
          <p:nvPr/>
        </p:nvSpPr>
        <p:spPr>
          <a:xfrm>
            <a:off x="8659925" y="81300"/>
            <a:ext cx="35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2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780" y="4519295"/>
            <a:ext cx="2709545" cy="624205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57150" y="36195"/>
            <a:ext cx="1067435" cy="663575"/>
            <a:chOff x="81" y="0"/>
            <a:chExt cx="1824" cy="1200"/>
          </a:xfrm>
        </p:grpSpPr>
        <p:pic>
          <p:nvPicPr>
            <p:cNvPr id="5" name="Picture 4" descr="PIEMR_logo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2" y="51"/>
              <a:ext cx="1613" cy="1035"/>
            </a:xfrm>
            <a:prstGeom prst="rect">
              <a:avLst/>
            </a:prstGeom>
          </p:spPr>
        </p:pic>
        <p:sp>
          <p:nvSpPr>
            <p:cNvPr id="10" name="Rounded Rectangle 9"/>
            <p:cNvSpPr/>
            <p:nvPr/>
          </p:nvSpPr>
          <p:spPr>
            <a:xfrm>
              <a:off x="81" y="0"/>
              <a:ext cx="1824" cy="1200"/>
            </a:xfrm>
            <a:prstGeom prst="round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"/>
          <p:cNvSpPr txBox="1">
            <a:spLocks noGrp="1"/>
          </p:cNvSpPr>
          <p:nvPr>
            <p:ph type="title"/>
          </p:nvPr>
        </p:nvSpPr>
        <p:spPr>
          <a:xfrm>
            <a:off x="3578575" y="562850"/>
            <a:ext cx="1989900" cy="6294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00" dirty="0">
                <a:latin typeface="Comfortaa"/>
                <a:ea typeface="Comfortaa"/>
                <a:cs typeface="Comfortaa"/>
                <a:sym typeface="Comfortaa"/>
              </a:rPr>
              <a:t>Solution</a:t>
            </a:r>
            <a:r>
              <a:rPr lang="en-GB" sz="3000" dirty="0"/>
              <a:t> </a:t>
            </a:r>
            <a:endParaRPr sz="3000" dirty="0"/>
          </a:p>
        </p:txBody>
      </p:sp>
      <p:sp>
        <p:nvSpPr>
          <p:cNvPr id="84" name="Google Shape;84;p3"/>
          <p:cNvSpPr txBox="1">
            <a:spLocks noGrp="1"/>
          </p:cNvSpPr>
          <p:nvPr>
            <p:ph type="body" idx="1"/>
          </p:nvPr>
        </p:nvSpPr>
        <p:spPr>
          <a:xfrm>
            <a:off x="313225" y="2144125"/>
            <a:ext cx="8520600" cy="13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GB" dirty="0">
                <a:latin typeface="Comfortaa"/>
                <a:ea typeface="Comfortaa"/>
                <a:cs typeface="Comfortaa"/>
                <a:sym typeface="Comfortaa"/>
              </a:rPr>
              <a:t>Describe the solution you are offering along with a clear representation of the innovative components of your solution.</a:t>
            </a:r>
            <a:endParaRPr dirty="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3641271" y="1103475"/>
            <a:ext cx="1845129" cy="0"/>
          </a:xfrm>
          <a:prstGeom prst="straightConnector1">
            <a:avLst/>
          </a:prstGeom>
          <a:noFill/>
          <a:ln w="2857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3"/>
          <p:cNvSpPr txBox="1"/>
          <p:nvPr/>
        </p:nvSpPr>
        <p:spPr>
          <a:xfrm>
            <a:off x="3979700" y="4774200"/>
            <a:ext cx="1097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8659925" y="96750"/>
            <a:ext cx="356700" cy="369300"/>
          </a:xfrm>
          <a:prstGeom prst="ellipse">
            <a:avLst/>
          </a:prstGeom>
          <a:solidFill>
            <a:srgbClr val="990000"/>
          </a:solidFill>
          <a:ln w="952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88" name="Google Shape;88;p3"/>
          <p:cNvCxnSpPr/>
          <p:nvPr/>
        </p:nvCxnSpPr>
        <p:spPr>
          <a:xfrm>
            <a:off x="0" y="5156100"/>
            <a:ext cx="9156600" cy="20400"/>
          </a:xfrm>
          <a:prstGeom prst="straightConnector1">
            <a:avLst/>
          </a:prstGeom>
          <a:noFill/>
          <a:ln w="381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" name="Google Shape;89;p3"/>
          <p:cNvSpPr txBox="1"/>
          <p:nvPr/>
        </p:nvSpPr>
        <p:spPr>
          <a:xfrm>
            <a:off x="8659925" y="81300"/>
            <a:ext cx="35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3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8812700" y="249525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780" y="4519295"/>
            <a:ext cx="2709545" cy="624205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57150" y="36195"/>
            <a:ext cx="1067435" cy="663575"/>
            <a:chOff x="81" y="0"/>
            <a:chExt cx="1824" cy="1200"/>
          </a:xfrm>
        </p:grpSpPr>
        <p:pic>
          <p:nvPicPr>
            <p:cNvPr id="7" name="Picture 6" descr="PIEMR_logo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2" y="51"/>
              <a:ext cx="1613" cy="1035"/>
            </a:xfrm>
            <a:prstGeom prst="rect">
              <a:avLst/>
            </a:prstGeom>
          </p:spPr>
        </p:pic>
        <p:sp>
          <p:nvSpPr>
            <p:cNvPr id="8" name="Rounded Rectangle 7"/>
            <p:cNvSpPr/>
            <p:nvPr/>
          </p:nvSpPr>
          <p:spPr>
            <a:xfrm>
              <a:off x="81" y="0"/>
              <a:ext cx="1824" cy="1200"/>
            </a:xfrm>
            <a:prstGeom prst="round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"/>
          <p:cNvSpPr txBox="1">
            <a:spLocks noGrp="1"/>
          </p:cNvSpPr>
          <p:nvPr>
            <p:ph type="title"/>
          </p:nvPr>
        </p:nvSpPr>
        <p:spPr>
          <a:xfrm>
            <a:off x="2612350" y="691100"/>
            <a:ext cx="491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000"/>
              <a:buFont typeface="Arial" panose="020B0604020202020204"/>
              <a:buNone/>
            </a:pPr>
            <a:r>
              <a:rPr lang="en-GB" sz="3200">
                <a:latin typeface="Comfortaa"/>
                <a:ea typeface="Comfortaa"/>
                <a:cs typeface="Comfortaa"/>
                <a:sym typeface="Comfortaa"/>
              </a:rPr>
              <a:t>Demo of Technology</a:t>
            </a:r>
            <a:endParaRPr sz="30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000"/>
              <a:buNone/>
            </a:pP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98" name="Google Shape;98;p4"/>
          <p:cNvSpPr txBox="1">
            <a:spLocks noGrp="1"/>
          </p:cNvSpPr>
          <p:nvPr>
            <p:ph type="body" idx="1"/>
          </p:nvPr>
        </p:nvSpPr>
        <p:spPr>
          <a:xfrm>
            <a:off x="300925" y="1920650"/>
            <a:ext cx="85206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●"/>
            </a:pPr>
            <a:r>
              <a:rPr lang="en-GB">
                <a:latin typeface="Comfortaa"/>
                <a:ea typeface="Comfortaa"/>
                <a:cs typeface="Comfortaa"/>
                <a:sym typeface="Comfortaa"/>
              </a:rPr>
              <a:t>You can place Screenshots of UI, photographs or share a link of demo video of your product depending upon its type. (software or hardware)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●"/>
            </a:pPr>
            <a:r>
              <a:rPr lang="en-GB">
                <a:latin typeface="Comfortaa"/>
                <a:ea typeface="Comfortaa"/>
                <a:cs typeface="Comfortaa"/>
                <a:sym typeface="Comfortaa"/>
              </a:rPr>
              <a:t>Features of product, IP, product architecture can be wrapped here.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99" name="Google Shape;99;p4"/>
          <p:cNvCxnSpPr/>
          <p:nvPr/>
        </p:nvCxnSpPr>
        <p:spPr>
          <a:xfrm>
            <a:off x="3954475" y="1152475"/>
            <a:ext cx="1213500" cy="0"/>
          </a:xfrm>
          <a:prstGeom prst="straightConnector1">
            <a:avLst/>
          </a:prstGeom>
          <a:noFill/>
          <a:ln w="2857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p4"/>
          <p:cNvSpPr/>
          <p:nvPr/>
        </p:nvSpPr>
        <p:spPr>
          <a:xfrm>
            <a:off x="8659925" y="96750"/>
            <a:ext cx="356700" cy="369300"/>
          </a:xfrm>
          <a:prstGeom prst="ellipse">
            <a:avLst/>
          </a:prstGeom>
          <a:solidFill>
            <a:srgbClr val="990000"/>
          </a:solidFill>
          <a:ln w="952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02" name="Google Shape;102;p4"/>
          <p:cNvCxnSpPr/>
          <p:nvPr/>
        </p:nvCxnSpPr>
        <p:spPr>
          <a:xfrm>
            <a:off x="0" y="5156100"/>
            <a:ext cx="9156600" cy="20400"/>
          </a:xfrm>
          <a:prstGeom prst="straightConnector1">
            <a:avLst/>
          </a:prstGeom>
          <a:noFill/>
          <a:ln w="381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" name="Google Shape;103;p4"/>
          <p:cNvSpPr txBox="1"/>
          <p:nvPr/>
        </p:nvSpPr>
        <p:spPr>
          <a:xfrm>
            <a:off x="8659925" y="81300"/>
            <a:ext cx="35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4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780" y="4519295"/>
            <a:ext cx="2709545" cy="624205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57150" y="36195"/>
            <a:ext cx="1067435" cy="663575"/>
            <a:chOff x="81" y="0"/>
            <a:chExt cx="1824" cy="1200"/>
          </a:xfrm>
        </p:grpSpPr>
        <p:pic>
          <p:nvPicPr>
            <p:cNvPr id="7" name="Picture 6" descr="PIEMR_logo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2" y="51"/>
              <a:ext cx="1613" cy="1035"/>
            </a:xfrm>
            <a:prstGeom prst="rect">
              <a:avLst/>
            </a:prstGeom>
          </p:spPr>
        </p:pic>
        <p:sp>
          <p:nvSpPr>
            <p:cNvPr id="8" name="Rounded Rectangle 7"/>
            <p:cNvSpPr/>
            <p:nvPr/>
          </p:nvSpPr>
          <p:spPr>
            <a:xfrm>
              <a:off x="81" y="0"/>
              <a:ext cx="1824" cy="1200"/>
            </a:xfrm>
            <a:prstGeom prst="round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312225" y="5340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000"/>
              <a:buNone/>
            </a:pPr>
            <a:r>
              <a:rPr lang="en-GB" dirty="0">
                <a:latin typeface="Comfortaa"/>
                <a:ea typeface="Comfortaa"/>
                <a:cs typeface="Comfortaa"/>
                <a:sym typeface="Comfortaa"/>
              </a:rPr>
              <a:t>Literature Survey &amp; IP</a:t>
            </a:r>
            <a:endParaRPr dirty="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302450" y="2035150"/>
            <a:ext cx="85206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dirty="0">
                <a:latin typeface="Comfortaa"/>
                <a:ea typeface="Comfortaa"/>
                <a:cs typeface="Comfortaa"/>
                <a:sym typeface="Comfortaa"/>
              </a:rPr>
              <a:t>Please share in brief the literature survey done to identify the current technology scenario in your area of work.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IN" dirty="0">
                <a:latin typeface="Comfortaa"/>
                <a:ea typeface="Comfortaa"/>
                <a:cs typeface="Comfortaa"/>
                <a:sym typeface="Comfortaa"/>
              </a:rPr>
              <a:t>Please share publications and any existing IP filed/published by you relevant to the current technology.</a:t>
            </a:r>
            <a:endParaRPr dirty="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11" name="Google Shape;111;p5"/>
          <p:cNvCxnSpPr/>
          <p:nvPr/>
        </p:nvCxnSpPr>
        <p:spPr>
          <a:xfrm>
            <a:off x="1950525" y="1008650"/>
            <a:ext cx="5244000" cy="9000"/>
          </a:xfrm>
          <a:prstGeom prst="straightConnector1">
            <a:avLst/>
          </a:prstGeom>
          <a:noFill/>
          <a:ln w="2857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" name="Google Shape;113;p5"/>
          <p:cNvSpPr/>
          <p:nvPr/>
        </p:nvSpPr>
        <p:spPr>
          <a:xfrm>
            <a:off x="8659925" y="96750"/>
            <a:ext cx="356700" cy="369300"/>
          </a:xfrm>
          <a:prstGeom prst="ellipse">
            <a:avLst/>
          </a:prstGeom>
          <a:solidFill>
            <a:srgbClr val="990000"/>
          </a:solidFill>
          <a:ln w="952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14" name="Google Shape;114;p5"/>
          <p:cNvCxnSpPr/>
          <p:nvPr/>
        </p:nvCxnSpPr>
        <p:spPr>
          <a:xfrm>
            <a:off x="0" y="5156100"/>
            <a:ext cx="9156600" cy="20400"/>
          </a:xfrm>
          <a:prstGeom prst="straightConnector1">
            <a:avLst/>
          </a:prstGeom>
          <a:noFill/>
          <a:ln w="381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5" name="Google Shape;115;p5"/>
          <p:cNvCxnSpPr/>
          <p:nvPr/>
        </p:nvCxnSpPr>
        <p:spPr>
          <a:xfrm>
            <a:off x="0" y="5156100"/>
            <a:ext cx="9156600" cy="20400"/>
          </a:xfrm>
          <a:prstGeom prst="straightConnector1">
            <a:avLst/>
          </a:prstGeom>
          <a:noFill/>
          <a:ln w="381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p5"/>
          <p:cNvSpPr txBox="1"/>
          <p:nvPr/>
        </p:nvSpPr>
        <p:spPr>
          <a:xfrm>
            <a:off x="8659925" y="81300"/>
            <a:ext cx="35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5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780" y="4519295"/>
            <a:ext cx="2709545" cy="624205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57150" y="36195"/>
            <a:ext cx="1067435" cy="663575"/>
            <a:chOff x="81" y="0"/>
            <a:chExt cx="1824" cy="1200"/>
          </a:xfrm>
        </p:grpSpPr>
        <p:pic>
          <p:nvPicPr>
            <p:cNvPr id="7" name="Picture 6" descr="PIEMR_logo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2" y="51"/>
              <a:ext cx="1613" cy="1035"/>
            </a:xfrm>
            <a:prstGeom prst="rect">
              <a:avLst/>
            </a:prstGeom>
          </p:spPr>
        </p:pic>
        <p:sp>
          <p:nvSpPr>
            <p:cNvPr id="8" name="Rounded Rectangle 7"/>
            <p:cNvSpPr/>
            <p:nvPr/>
          </p:nvSpPr>
          <p:spPr>
            <a:xfrm>
              <a:off x="81" y="0"/>
              <a:ext cx="1824" cy="1200"/>
            </a:xfrm>
            <a:prstGeom prst="round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>
            <a:spLocks noGrp="1"/>
          </p:cNvSpPr>
          <p:nvPr>
            <p:ph type="title"/>
          </p:nvPr>
        </p:nvSpPr>
        <p:spPr>
          <a:xfrm>
            <a:off x="3321000" y="630300"/>
            <a:ext cx="187965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000"/>
              <a:buNone/>
            </a:pPr>
            <a:r>
              <a:rPr lang="en-GB" dirty="0">
                <a:latin typeface="Comfortaa"/>
                <a:ea typeface="Comfortaa"/>
                <a:cs typeface="Comfortaa"/>
                <a:sym typeface="Comfortaa"/>
              </a:rPr>
              <a:t>End User</a:t>
            </a:r>
            <a:endParaRPr dirty="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3" name="Google Shape;123;p6"/>
          <p:cNvSpPr txBox="1">
            <a:spLocks noGrp="1"/>
          </p:cNvSpPr>
          <p:nvPr>
            <p:ph type="body" idx="1"/>
          </p:nvPr>
        </p:nvSpPr>
        <p:spPr>
          <a:xfrm>
            <a:off x="311700" y="1817200"/>
            <a:ext cx="8520600" cy="17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 marL="457200" lvl="0" indent="-34734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●"/>
            </a:pPr>
            <a:r>
              <a:rPr lang="en-IN" sz="7500" dirty="0">
                <a:latin typeface="Comfortaa"/>
                <a:ea typeface="Comfortaa"/>
                <a:cs typeface="Comfortaa"/>
                <a:sym typeface="Comfortaa"/>
              </a:rPr>
              <a:t>Please describe the probable end user for your technology/product.</a:t>
            </a:r>
          </a:p>
          <a:p>
            <a:pPr marL="457200" lvl="0" indent="-34734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mfortaa"/>
              <a:buChar char="●"/>
            </a:pPr>
            <a:r>
              <a:rPr lang="en-IN" sz="7500" dirty="0">
                <a:latin typeface="Comfortaa"/>
                <a:ea typeface="Comfortaa"/>
                <a:cs typeface="Comfortaa"/>
                <a:sym typeface="Comfortaa"/>
              </a:rPr>
              <a:t>Describe specific Innovative features which solves the problem faced by the end user. </a:t>
            </a:r>
            <a:endParaRPr dirty="0"/>
          </a:p>
        </p:txBody>
      </p:sp>
      <p:cxnSp>
        <p:nvCxnSpPr>
          <p:cNvPr id="124" name="Google Shape;124;p6"/>
          <p:cNvCxnSpPr/>
          <p:nvPr/>
        </p:nvCxnSpPr>
        <p:spPr>
          <a:xfrm>
            <a:off x="3123022" y="1145260"/>
            <a:ext cx="2179500" cy="0"/>
          </a:xfrm>
          <a:prstGeom prst="straightConnector1">
            <a:avLst/>
          </a:prstGeom>
          <a:noFill/>
          <a:ln w="2857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6" name="Google Shape;126;p6"/>
          <p:cNvSpPr/>
          <p:nvPr/>
        </p:nvSpPr>
        <p:spPr>
          <a:xfrm>
            <a:off x="8659925" y="96750"/>
            <a:ext cx="356700" cy="369300"/>
          </a:xfrm>
          <a:prstGeom prst="ellipse">
            <a:avLst/>
          </a:prstGeom>
          <a:solidFill>
            <a:srgbClr val="990000"/>
          </a:solidFill>
          <a:ln w="952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27" name="Google Shape;127;p6"/>
          <p:cNvCxnSpPr/>
          <p:nvPr/>
        </p:nvCxnSpPr>
        <p:spPr>
          <a:xfrm>
            <a:off x="0" y="5156100"/>
            <a:ext cx="9156600" cy="20400"/>
          </a:xfrm>
          <a:prstGeom prst="straightConnector1">
            <a:avLst/>
          </a:prstGeom>
          <a:noFill/>
          <a:ln w="381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8" name="Google Shape;128;p6"/>
          <p:cNvSpPr txBox="1"/>
          <p:nvPr/>
        </p:nvSpPr>
        <p:spPr>
          <a:xfrm>
            <a:off x="8659925" y="81300"/>
            <a:ext cx="35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6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780" y="4519295"/>
            <a:ext cx="2709545" cy="624205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57150" y="36195"/>
            <a:ext cx="1067435" cy="663575"/>
            <a:chOff x="81" y="0"/>
            <a:chExt cx="1824" cy="1200"/>
          </a:xfrm>
        </p:grpSpPr>
        <p:pic>
          <p:nvPicPr>
            <p:cNvPr id="7" name="Picture 6" descr="PIEMR_logo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2" y="51"/>
              <a:ext cx="1613" cy="1035"/>
            </a:xfrm>
            <a:prstGeom prst="rect">
              <a:avLst/>
            </a:prstGeom>
          </p:spPr>
        </p:pic>
        <p:sp>
          <p:nvSpPr>
            <p:cNvPr id="8" name="Rounded Rectangle 7"/>
            <p:cNvSpPr/>
            <p:nvPr/>
          </p:nvSpPr>
          <p:spPr>
            <a:xfrm>
              <a:off x="81" y="0"/>
              <a:ext cx="1824" cy="1200"/>
            </a:xfrm>
            <a:prstGeom prst="round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2098221" y="630125"/>
            <a:ext cx="5241471" cy="5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000"/>
              <a:buNone/>
            </a:pPr>
            <a:r>
              <a:rPr lang="en-GB" dirty="0">
                <a:latin typeface="Comfortaa"/>
                <a:ea typeface="Comfortaa"/>
                <a:cs typeface="Comfortaa"/>
                <a:sym typeface="Comfortaa"/>
              </a:rPr>
              <a:t>Commercialization Model</a:t>
            </a:r>
            <a:endParaRPr dirty="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47" name="Google Shape;147;p8"/>
          <p:cNvSpPr txBox="1">
            <a:spLocks noGrp="1"/>
          </p:cNvSpPr>
          <p:nvPr>
            <p:ph type="body" idx="1"/>
          </p:nvPr>
        </p:nvSpPr>
        <p:spPr>
          <a:xfrm>
            <a:off x="311700" y="1820475"/>
            <a:ext cx="8520600" cy="19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</a:pPr>
            <a:r>
              <a:rPr lang="en-IN" dirty="0">
                <a:latin typeface="Comfortaa"/>
                <a:ea typeface="Comfortaa"/>
                <a:cs typeface="Comfortaa"/>
                <a:sym typeface="Comfortaa"/>
              </a:rPr>
              <a:t>What is the proposed commercialization model for the technology/product:</a:t>
            </a:r>
          </a:p>
          <a:p>
            <a:pPr lvl="1" indent="-342900">
              <a:buSzPts val="1800"/>
              <a:buFont typeface="Arial" panose="020B0604020202020204" pitchFamily="34" charset="0"/>
              <a:buChar char="•"/>
            </a:pPr>
            <a:r>
              <a:rPr lang="en-IN" dirty="0">
                <a:latin typeface="Comfortaa"/>
                <a:ea typeface="Comfortaa"/>
                <a:cs typeface="Comfortaa"/>
                <a:sym typeface="Comfortaa"/>
              </a:rPr>
              <a:t>Tech Transfer/ Licensing/ Royalty</a:t>
            </a:r>
          </a:p>
          <a:p>
            <a:pPr lvl="1" indent="-342900">
              <a:buSzPts val="1800"/>
              <a:buFont typeface="Arial" panose="020B0604020202020204" pitchFamily="34" charset="0"/>
              <a:buChar char="•"/>
            </a:pPr>
            <a:r>
              <a:rPr lang="en-IN" dirty="0">
                <a:latin typeface="Comfortaa"/>
                <a:ea typeface="Comfortaa"/>
                <a:cs typeface="Comfortaa"/>
                <a:sym typeface="Comfortaa"/>
              </a:rPr>
              <a:t>Startup Formation </a:t>
            </a:r>
          </a:p>
          <a:p>
            <a:pPr lvl="1" indent="-342900">
              <a:buSzPts val="1800"/>
              <a:buFont typeface="Arial" panose="020B0604020202020204" pitchFamily="34" charset="0"/>
              <a:buChar char="•"/>
            </a:pPr>
            <a:r>
              <a:rPr lang="en-IN" dirty="0">
                <a:latin typeface="Comfortaa"/>
                <a:ea typeface="Comfortaa"/>
                <a:cs typeface="Comfortaa"/>
                <a:sym typeface="Comfortaa"/>
              </a:rPr>
              <a:t>Existing tie-up for commercialization if any</a:t>
            </a:r>
          </a:p>
        </p:txBody>
      </p:sp>
      <p:cxnSp>
        <p:nvCxnSpPr>
          <p:cNvPr id="148" name="Google Shape;148;p8"/>
          <p:cNvCxnSpPr/>
          <p:nvPr/>
        </p:nvCxnSpPr>
        <p:spPr>
          <a:xfrm>
            <a:off x="1959429" y="1120000"/>
            <a:ext cx="4784271" cy="0"/>
          </a:xfrm>
          <a:prstGeom prst="straightConnector1">
            <a:avLst/>
          </a:prstGeom>
          <a:noFill/>
          <a:ln w="2857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0" name="Google Shape;150;p8"/>
          <p:cNvSpPr/>
          <p:nvPr/>
        </p:nvSpPr>
        <p:spPr>
          <a:xfrm>
            <a:off x="8659925" y="96750"/>
            <a:ext cx="356700" cy="369300"/>
          </a:xfrm>
          <a:prstGeom prst="ellipse">
            <a:avLst/>
          </a:prstGeom>
          <a:solidFill>
            <a:srgbClr val="990000"/>
          </a:solidFill>
          <a:ln w="952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51" name="Google Shape;151;p8"/>
          <p:cNvCxnSpPr/>
          <p:nvPr/>
        </p:nvCxnSpPr>
        <p:spPr>
          <a:xfrm>
            <a:off x="0" y="5156100"/>
            <a:ext cx="9156600" cy="20400"/>
          </a:xfrm>
          <a:prstGeom prst="straightConnector1">
            <a:avLst/>
          </a:prstGeom>
          <a:noFill/>
          <a:ln w="381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" name="Google Shape;152;p8"/>
          <p:cNvSpPr txBox="1"/>
          <p:nvPr/>
        </p:nvSpPr>
        <p:spPr>
          <a:xfrm>
            <a:off x="8659925" y="81300"/>
            <a:ext cx="35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8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780" y="4519295"/>
            <a:ext cx="2709545" cy="624205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57150" y="36195"/>
            <a:ext cx="1067435" cy="663575"/>
            <a:chOff x="81" y="0"/>
            <a:chExt cx="1824" cy="1200"/>
          </a:xfrm>
        </p:grpSpPr>
        <p:pic>
          <p:nvPicPr>
            <p:cNvPr id="7" name="Picture 6" descr="PIEMR_logo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2" y="51"/>
              <a:ext cx="1613" cy="1035"/>
            </a:xfrm>
            <a:prstGeom prst="rect">
              <a:avLst/>
            </a:prstGeom>
          </p:spPr>
        </p:pic>
        <p:sp>
          <p:nvSpPr>
            <p:cNvPr id="8" name="Rounded Rectangle 7"/>
            <p:cNvSpPr/>
            <p:nvPr/>
          </p:nvSpPr>
          <p:spPr>
            <a:xfrm>
              <a:off x="81" y="0"/>
              <a:ext cx="1824" cy="1200"/>
            </a:xfrm>
            <a:prstGeom prst="round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>
            <a:spLocks noGrp="1"/>
          </p:cNvSpPr>
          <p:nvPr>
            <p:ph type="title"/>
          </p:nvPr>
        </p:nvSpPr>
        <p:spPr>
          <a:xfrm>
            <a:off x="3546600" y="646575"/>
            <a:ext cx="2050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5000"/>
              <a:buNone/>
            </a:pPr>
            <a:r>
              <a:rPr lang="en-GB" sz="2810">
                <a:latin typeface="Comfortaa"/>
                <a:ea typeface="Comfortaa"/>
                <a:cs typeface="Comfortaa"/>
                <a:sym typeface="Comfortaa"/>
              </a:rPr>
              <a:t>Milestones</a:t>
            </a:r>
            <a:r>
              <a:rPr lang="en-GB" sz="1820"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sz="182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59" name="Google Shape;159;p9"/>
          <p:cNvSpPr txBox="1">
            <a:spLocks noGrp="1"/>
          </p:cNvSpPr>
          <p:nvPr>
            <p:ph type="body" idx="1"/>
          </p:nvPr>
        </p:nvSpPr>
        <p:spPr>
          <a:xfrm>
            <a:off x="311700" y="1587625"/>
            <a:ext cx="8520600" cy="24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●"/>
            </a:pPr>
            <a:r>
              <a:rPr lang="en-GB" dirty="0">
                <a:latin typeface="Comfortaa"/>
                <a:ea typeface="Comfortaa"/>
                <a:cs typeface="Comfortaa"/>
                <a:sym typeface="Comfortaa"/>
              </a:rPr>
              <a:t>Product Development roadmap</a:t>
            </a:r>
            <a:endParaRPr dirty="0"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●"/>
            </a:pPr>
            <a:r>
              <a:rPr lang="en-GB" dirty="0">
                <a:latin typeface="Comfortaa"/>
                <a:ea typeface="Comfortaa"/>
                <a:cs typeface="Comfortaa"/>
                <a:sym typeface="Comfortaa"/>
              </a:rPr>
              <a:t>Trace the milestones achieved till now and future Projections.</a:t>
            </a:r>
            <a:endParaRPr dirty="0"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●"/>
            </a:pPr>
            <a:r>
              <a:rPr lang="en-GB" dirty="0">
                <a:latin typeface="Comfortaa"/>
                <a:ea typeface="Comfortaa"/>
                <a:cs typeface="Comfortaa"/>
                <a:sym typeface="Comfortaa"/>
              </a:rPr>
              <a:t>Describe them on a Timeline.</a:t>
            </a:r>
            <a:endParaRPr dirty="0"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●"/>
            </a:pPr>
            <a:r>
              <a:rPr lang="en-GB" dirty="0">
                <a:latin typeface="Comfortaa"/>
                <a:ea typeface="Comfortaa"/>
                <a:cs typeface="Comfortaa"/>
                <a:sym typeface="Comfortaa"/>
              </a:rPr>
              <a:t>Mention the time span &amp; approximate fund usage for each milestone set on the timeline (in years/months)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●"/>
            </a:pPr>
            <a:r>
              <a:rPr lang="en-US" dirty="0">
                <a:latin typeface="Comfortaa"/>
                <a:ea typeface="Comfortaa"/>
                <a:cs typeface="Comfortaa"/>
                <a:sym typeface="Comfortaa"/>
              </a:rPr>
              <a:t>Include Partnership details.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mfortaa"/>
              <a:buChar char="●"/>
            </a:pPr>
            <a:r>
              <a:rPr lang="en-US" dirty="0">
                <a:latin typeface="Comfortaa"/>
                <a:ea typeface="Comfortaa"/>
                <a:cs typeface="Comfortaa"/>
                <a:sym typeface="Comfortaa"/>
              </a:rPr>
              <a:t>Tenure of the project.</a:t>
            </a:r>
          </a:p>
        </p:txBody>
      </p:sp>
      <p:cxnSp>
        <p:nvCxnSpPr>
          <p:cNvPr id="160" name="Google Shape;160;p9"/>
          <p:cNvCxnSpPr/>
          <p:nvPr/>
        </p:nvCxnSpPr>
        <p:spPr>
          <a:xfrm>
            <a:off x="3698425" y="1097725"/>
            <a:ext cx="1636500" cy="0"/>
          </a:xfrm>
          <a:prstGeom prst="straightConnector1">
            <a:avLst/>
          </a:prstGeom>
          <a:noFill/>
          <a:ln w="2857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2" name="Google Shape;162;p9"/>
          <p:cNvSpPr/>
          <p:nvPr/>
        </p:nvSpPr>
        <p:spPr>
          <a:xfrm>
            <a:off x="8659925" y="96750"/>
            <a:ext cx="356700" cy="369300"/>
          </a:xfrm>
          <a:prstGeom prst="ellipse">
            <a:avLst/>
          </a:prstGeom>
          <a:solidFill>
            <a:srgbClr val="990000"/>
          </a:solidFill>
          <a:ln w="952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3" name="Google Shape;163;p9"/>
          <p:cNvCxnSpPr/>
          <p:nvPr/>
        </p:nvCxnSpPr>
        <p:spPr>
          <a:xfrm>
            <a:off x="0" y="5156100"/>
            <a:ext cx="9156600" cy="20400"/>
          </a:xfrm>
          <a:prstGeom prst="straightConnector1">
            <a:avLst/>
          </a:prstGeom>
          <a:noFill/>
          <a:ln w="381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" name="Google Shape;164;p9"/>
          <p:cNvSpPr txBox="1"/>
          <p:nvPr/>
        </p:nvSpPr>
        <p:spPr>
          <a:xfrm>
            <a:off x="8659925" y="81300"/>
            <a:ext cx="35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9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780" y="4519295"/>
            <a:ext cx="2709545" cy="624205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57150" y="36195"/>
            <a:ext cx="1067435" cy="663575"/>
            <a:chOff x="81" y="0"/>
            <a:chExt cx="1824" cy="1200"/>
          </a:xfrm>
        </p:grpSpPr>
        <p:pic>
          <p:nvPicPr>
            <p:cNvPr id="5" name="Picture 4" descr="PIEMR_logo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2" y="51"/>
              <a:ext cx="1613" cy="1035"/>
            </a:xfrm>
            <a:prstGeom prst="rect">
              <a:avLst/>
            </a:prstGeom>
          </p:spPr>
        </p:pic>
        <p:sp>
          <p:nvSpPr>
            <p:cNvPr id="10" name="Rounded Rectangle 9"/>
            <p:cNvSpPr/>
            <p:nvPr/>
          </p:nvSpPr>
          <p:spPr>
            <a:xfrm>
              <a:off x="81" y="0"/>
              <a:ext cx="1824" cy="1200"/>
            </a:xfrm>
            <a:prstGeom prst="round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 txBox="1">
            <a:spLocks noGrp="1"/>
          </p:cNvSpPr>
          <p:nvPr>
            <p:ph type="title"/>
          </p:nvPr>
        </p:nvSpPr>
        <p:spPr>
          <a:xfrm>
            <a:off x="2338650" y="645400"/>
            <a:ext cx="4466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000"/>
              <a:buNone/>
            </a:pPr>
            <a:r>
              <a:rPr lang="en-GB">
                <a:latin typeface="Comfortaa"/>
                <a:ea typeface="Comfortaa"/>
                <a:cs typeface="Comfortaa"/>
                <a:sym typeface="Comfortaa"/>
              </a:rPr>
              <a:t>Funding ASK &amp; Budget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311700" y="1981250"/>
            <a:ext cx="8520600" cy="20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89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0000"/>
              <a:buFont typeface="Comfortaa"/>
              <a:buChar char="●"/>
            </a:pPr>
            <a:r>
              <a:rPr lang="en-GB" dirty="0">
                <a:latin typeface="Comfortaa"/>
                <a:ea typeface="Comfortaa"/>
                <a:cs typeface="Comfortaa"/>
                <a:sym typeface="Comfortaa"/>
              </a:rPr>
              <a:t>Mention existing funds raised through other programs.</a:t>
            </a:r>
            <a:endParaRPr dirty="0"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289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0000"/>
              <a:buFont typeface="Comfortaa"/>
              <a:buChar char="●"/>
            </a:pPr>
            <a:r>
              <a:rPr lang="en-GB" dirty="0">
                <a:latin typeface="Comfortaa"/>
                <a:ea typeface="Comfortaa"/>
                <a:cs typeface="Comfortaa"/>
                <a:sym typeface="Comfortaa"/>
              </a:rPr>
              <a:t>Mention your Funding ask (in Rupees) and describe the projected utilization.</a:t>
            </a:r>
            <a:endParaRPr dirty="0"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-32893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0000"/>
              <a:buFont typeface="Comfortaa"/>
              <a:buChar char="●"/>
            </a:pPr>
            <a:r>
              <a:rPr lang="en-GB" dirty="0">
                <a:latin typeface="Comfortaa"/>
                <a:ea typeface="Comfortaa"/>
                <a:cs typeface="Comfortaa"/>
                <a:sym typeface="Comfortaa"/>
              </a:rPr>
              <a:t>Mention realistic numbers for expected funding.</a:t>
            </a: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60000"/>
              <a:buFont typeface="Comfortaa"/>
              <a:buNone/>
            </a:pPr>
            <a:endParaRPr dirty="0"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highlight>
                <a:srgbClr val="FFFF00"/>
              </a:highlight>
            </a:endParaRPr>
          </a:p>
        </p:txBody>
      </p:sp>
      <p:cxnSp>
        <p:nvCxnSpPr>
          <p:cNvPr id="172" name="Google Shape;172;p10"/>
          <p:cNvCxnSpPr/>
          <p:nvPr/>
        </p:nvCxnSpPr>
        <p:spPr>
          <a:xfrm>
            <a:off x="2462650" y="1131125"/>
            <a:ext cx="4163700" cy="0"/>
          </a:xfrm>
          <a:prstGeom prst="straightConnector1">
            <a:avLst/>
          </a:prstGeom>
          <a:noFill/>
          <a:ln w="2857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4" name="Google Shape;174;p10"/>
          <p:cNvSpPr/>
          <p:nvPr/>
        </p:nvSpPr>
        <p:spPr>
          <a:xfrm>
            <a:off x="8659925" y="96750"/>
            <a:ext cx="356700" cy="369300"/>
          </a:xfrm>
          <a:prstGeom prst="ellipse">
            <a:avLst/>
          </a:prstGeom>
          <a:solidFill>
            <a:srgbClr val="990000"/>
          </a:solidFill>
          <a:ln w="952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75" name="Google Shape;175;p10"/>
          <p:cNvCxnSpPr/>
          <p:nvPr/>
        </p:nvCxnSpPr>
        <p:spPr>
          <a:xfrm>
            <a:off x="0" y="5156100"/>
            <a:ext cx="9156600" cy="20400"/>
          </a:xfrm>
          <a:prstGeom prst="straightConnector1">
            <a:avLst/>
          </a:prstGeom>
          <a:noFill/>
          <a:ln w="381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6" name="Google Shape;176;p10"/>
          <p:cNvSpPr txBox="1"/>
          <p:nvPr/>
        </p:nvSpPr>
        <p:spPr>
          <a:xfrm>
            <a:off x="8634275" y="81300"/>
            <a:ext cx="40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12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7150" y="36195"/>
            <a:ext cx="1067435" cy="663575"/>
            <a:chOff x="81" y="0"/>
            <a:chExt cx="1824" cy="1200"/>
          </a:xfrm>
        </p:grpSpPr>
        <p:pic>
          <p:nvPicPr>
            <p:cNvPr id="5" name="Picture 4" descr="PIEMR_logo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2" y="51"/>
              <a:ext cx="1613" cy="1035"/>
            </a:xfrm>
            <a:prstGeom prst="rect">
              <a:avLst/>
            </a:prstGeom>
          </p:spPr>
        </p:pic>
        <p:sp>
          <p:nvSpPr>
            <p:cNvPr id="10" name="Rounded Rectangle 9"/>
            <p:cNvSpPr/>
            <p:nvPr/>
          </p:nvSpPr>
          <p:spPr>
            <a:xfrm>
              <a:off x="81" y="0"/>
              <a:ext cx="1824" cy="1200"/>
            </a:xfrm>
            <a:prstGeom prst="round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>
            <a:spLocks noGrp="1"/>
          </p:cNvSpPr>
          <p:nvPr>
            <p:ph type="title"/>
          </p:nvPr>
        </p:nvSpPr>
        <p:spPr>
          <a:xfrm>
            <a:off x="3936300" y="701100"/>
            <a:ext cx="12714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000"/>
              <a:buNone/>
            </a:pPr>
            <a:r>
              <a:rPr lang="en-GB">
                <a:latin typeface="Comfortaa"/>
                <a:ea typeface="Comfortaa"/>
                <a:cs typeface="Comfortaa"/>
                <a:sym typeface="Comfortaa"/>
              </a:rPr>
              <a:t>TEAM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3" name="Google Shape;183;p11"/>
          <p:cNvSpPr txBox="1">
            <a:spLocks noGrp="1"/>
          </p:cNvSpPr>
          <p:nvPr>
            <p:ph type="body" idx="1"/>
          </p:nvPr>
        </p:nvSpPr>
        <p:spPr>
          <a:xfrm>
            <a:off x="311700" y="2054275"/>
            <a:ext cx="8520600" cy="1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dirty="0">
                <a:latin typeface="Comfortaa"/>
                <a:ea typeface="Comfortaa"/>
                <a:cs typeface="Comfortaa"/>
                <a:sym typeface="Comfortaa"/>
              </a:rPr>
              <a:t>Insert the photographs of the </a:t>
            </a:r>
            <a:r>
              <a:rPr lang="en-IN" altLang="en-GB" dirty="0">
                <a:latin typeface="Comfortaa"/>
                <a:ea typeface="Comfortaa"/>
                <a:cs typeface="Comfortaa"/>
                <a:sym typeface="Comfortaa"/>
              </a:rPr>
              <a:t>Founder, Mentor </a:t>
            </a:r>
            <a:r>
              <a:rPr lang="en-GB" dirty="0">
                <a:latin typeface="Comfortaa"/>
                <a:ea typeface="Comfortaa"/>
                <a:cs typeface="Comfortaa"/>
                <a:sym typeface="Comfortaa"/>
              </a:rPr>
              <a:t>&amp; the team along with their qualifications, core domain of work.</a:t>
            </a:r>
            <a:endParaRPr dirty="0">
              <a:latin typeface="Comfortaa"/>
              <a:ea typeface="Comfortaa"/>
              <a:cs typeface="Comfortaa"/>
              <a:sym typeface="Comforta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endParaRPr dirty="0">
              <a:latin typeface="Comfortaa"/>
              <a:ea typeface="Comfortaa"/>
              <a:cs typeface="Comfortaa"/>
              <a:sym typeface="Comfortaa"/>
            </a:endParaRPr>
          </a:p>
        </p:txBody>
      </p:sp>
      <p:cxnSp>
        <p:nvCxnSpPr>
          <p:cNvPr id="184" name="Google Shape;184;p11"/>
          <p:cNvCxnSpPr/>
          <p:nvPr/>
        </p:nvCxnSpPr>
        <p:spPr>
          <a:xfrm>
            <a:off x="4121475" y="1153400"/>
            <a:ext cx="834900" cy="0"/>
          </a:xfrm>
          <a:prstGeom prst="straightConnector1">
            <a:avLst/>
          </a:prstGeom>
          <a:noFill/>
          <a:ln w="2857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" name="Google Shape;186;p11"/>
          <p:cNvSpPr/>
          <p:nvPr/>
        </p:nvSpPr>
        <p:spPr>
          <a:xfrm>
            <a:off x="8659925" y="96750"/>
            <a:ext cx="356700" cy="369300"/>
          </a:xfrm>
          <a:prstGeom prst="ellipse">
            <a:avLst/>
          </a:prstGeom>
          <a:solidFill>
            <a:srgbClr val="990000"/>
          </a:solidFill>
          <a:ln w="952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87" name="Google Shape;187;p11"/>
          <p:cNvCxnSpPr/>
          <p:nvPr/>
        </p:nvCxnSpPr>
        <p:spPr>
          <a:xfrm>
            <a:off x="0" y="5156100"/>
            <a:ext cx="9156600" cy="20400"/>
          </a:xfrm>
          <a:prstGeom prst="straightConnector1">
            <a:avLst/>
          </a:prstGeom>
          <a:noFill/>
          <a:ln w="381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" name="Google Shape;188;p11"/>
          <p:cNvSpPr txBox="1"/>
          <p:nvPr/>
        </p:nvSpPr>
        <p:spPr>
          <a:xfrm>
            <a:off x="8659925" y="81300"/>
            <a:ext cx="484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13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57150" y="36195"/>
            <a:ext cx="1067435" cy="663575"/>
            <a:chOff x="81" y="0"/>
            <a:chExt cx="1824" cy="1200"/>
          </a:xfrm>
        </p:grpSpPr>
        <p:pic>
          <p:nvPicPr>
            <p:cNvPr id="5" name="Picture 4" descr="PIEMR_logo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2" y="51"/>
              <a:ext cx="1613" cy="1035"/>
            </a:xfrm>
            <a:prstGeom prst="rect">
              <a:avLst/>
            </a:prstGeom>
          </p:spPr>
        </p:pic>
        <p:sp>
          <p:nvSpPr>
            <p:cNvPr id="10" name="Rounded Rectangle 9"/>
            <p:cNvSpPr/>
            <p:nvPr/>
          </p:nvSpPr>
          <p:spPr>
            <a:xfrm>
              <a:off x="81" y="0"/>
              <a:ext cx="1824" cy="1200"/>
            </a:xfrm>
            <a:prstGeom prst="round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/>
          <p:nvPr/>
        </p:nvSpPr>
        <p:spPr>
          <a:xfrm>
            <a:off x="802640" y="812165"/>
            <a:ext cx="6591935" cy="52641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Details of the Host Institution</a:t>
            </a:r>
            <a:r>
              <a:rPr lang="en-IN" altLang="en-GB" sz="2000" b="0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(HI)</a:t>
            </a:r>
            <a:r>
              <a:rPr lang="en-GB" sz="2000" b="0" i="0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</a:p>
        </p:txBody>
      </p:sp>
      <p:sp>
        <p:nvSpPr>
          <p:cNvPr id="195" name="Google Shape;195;p12"/>
          <p:cNvSpPr txBox="1"/>
          <p:nvPr/>
        </p:nvSpPr>
        <p:spPr>
          <a:xfrm>
            <a:off x="414150" y="4459925"/>
            <a:ext cx="1569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96" name="Google Shape;196;p12"/>
          <p:cNvSpPr txBox="1"/>
          <p:nvPr/>
        </p:nvSpPr>
        <p:spPr>
          <a:xfrm>
            <a:off x="731500" y="4467575"/>
            <a:ext cx="1130100" cy="400200"/>
          </a:xfrm>
          <a:prstGeom prst="rect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Address     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7" name="Google Shape;197;p12"/>
          <p:cNvSpPr txBox="1"/>
          <p:nvPr/>
        </p:nvSpPr>
        <p:spPr>
          <a:xfrm>
            <a:off x="3892800" y="4448800"/>
            <a:ext cx="1358400" cy="400200"/>
          </a:xfrm>
          <a:prstGeom prst="rect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Contact no.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98" name="Google Shape;198;p12"/>
          <p:cNvSpPr txBox="1"/>
          <p:nvPr/>
        </p:nvSpPr>
        <p:spPr>
          <a:xfrm>
            <a:off x="6871350" y="4448800"/>
            <a:ext cx="1258200" cy="400200"/>
          </a:xfrm>
          <a:prstGeom prst="rect">
            <a:avLst/>
          </a:prstGeom>
          <a:noFill/>
          <a:ln w="1905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0" i="0" u="none" strike="noStrike" cap="non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Email id</a:t>
            </a:r>
            <a:endParaRPr sz="1400" b="0" i="0" u="none" strike="noStrike" cap="non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99" name="Google Shape;199;p1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452995" y="4118610"/>
            <a:ext cx="262890" cy="266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2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488815" y="4119245"/>
            <a:ext cx="333375" cy="265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2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124585" y="4041775"/>
            <a:ext cx="384175" cy="41846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2"/>
          <p:cNvSpPr/>
          <p:nvPr/>
        </p:nvSpPr>
        <p:spPr>
          <a:xfrm>
            <a:off x="8659925" y="96750"/>
            <a:ext cx="356700" cy="369300"/>
          </a:xfrm>
          <a:prstGeom prst="ellipse">
            <a:avLst/>
          </a:prstGeom>
          <a:solidFill>
            <a:srgbClr val="990000"/>
          </a:solidFill>
          <a:ln w="9525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203" name="Google Shape;203;p12"/>
          <p:cNvCxnSpPr/>
          <p:nvPr/>
        </p:nvCxnSpPr>
        <p:spPr>
          <a:xfrm>
            <a:off x="0" y="5156100"/>
            <a:ext cx="9156600" cy="20400"/>
          </a:xfrm>
          <a:prstGeom prst="straightConnector1">
            <a:avLst/>
          </a:prstGeom>
          <a:noFill/>
          <a:ln w="38100" cap="flat" cmpd="sng">
            <a:solidFill>
              <a:srgbClr val="99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4" name="Google Shape;204;p12"/>
          <p:cNvSpPr txBox="1"/>
          <p:nvPr/>
        </p:nvSpPr>
        <p:spPr>
          <a:xfrm>
            <a:off x="8659925" y="81300"/>
            <a:ext cx="713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rPr>
              <a:t>15</a:t>
            </a:r>
            <a:endParaRPr sz="1400" b="1" i="0" u="none" strike="noStrike" cap="none">
              <a:solidFill>
                <a:schemeClr val="l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6" name="Google Shape;206;p12"/>
          <p:cNvSpPr txBox="1">
            <a:spLocks noGrp="1"/>
          </p:cNvSpPr>
          <p:nvPr>
            <p:ph type="body" idx="1"/>
          </p:nvPr>
        </p:nvSpPr>
        <p:spPr>
          <a:xfrm>
            <a:off x="324485" y="1277620"/>
            <a:ext cx="8155305" cy="410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IN" altLang="en-GB" sz="1600" b="1">
                <a:latin typeface="Comfortaa"/>
                <a:ea typeface="Comfortaa"/>
                <a:cs typeface="Comfortaa"/>
                <a:sym typeface="Comfortaa"/>
              </a:rPr>
              <a:t>Prestige Institue of Engineering Mangement and Research Indore</a:t>
            </a:r>
          </a:p>
        </p:txBody>
      </p:sp>
      <p:sp>
        <p:nvSpPr>
          <p:cNvPr id="207" name="Google Shape;207;p12"/>
          <p:cNvSpPr txBox="1"/>
          <p:nvPr/>
        </p:nvSpPr>
        <p:spPr>
          <a:xfrm>
            <a:off x="802640" y="1823720"/>
            <a:ext cx="4542155" cy="42735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GB" sz="1600" b="1" i="1" u="none" strike="noStrike" cap="none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Details of the Applicant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7150" y="36195"/>
            <a:ext cx="1067435" cy="663575"/>
            <a:chOff x="81" y="0"/>
            <a:chExt cx="1824" cy="1200"/>
          </a:xfrm>
        </p:grpSpPr>
        <p:pic>
          <p:nvPicPr>
            <p:cNvPr id="5" name="Picture 4" descr="PIEMR_logo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82" y="51"/>
              <a:ext cx="1613" cy="1035"/>
            </a:xfrm>
            <a:prstGeom prst="rect">
              <a:avLst/>
            </a:prstGeom>
          </p:spPr>
        </p:pic>
        <p:sp>
          <p:nvSpPr>
            <p:cNvPr id="10" name="Rounded Rectangle 9"/>
            <p:cNvSpPr/>
            <p:nvPr/>
          </p:nvSpPr>
          <p:spPr>
            <a:xfrm>
              <a:off x="81" y="0"/>
              <a:ext cx="1824" cy="1200"/>
            </a:xfrm>
            <a:prstGeom prst="roundRect">
              <a:avLst/>
            </a:prstGeom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 Box 1"/>
          <p:cNvSpPr txBox="1"/>
          <p:nvPr/>
        </p:nvSpPr>
        <p:spPr>
          <a:xfrm>
            <a:off x="944880" y="2266315"/>
            <a:ext cx="7421880" cy="1517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US"/>
              <a:t>Name - </a:t>
            </a:r>
          </a:p>
          <a:p>
            <a:endParaRPr lang="en-IN" altLang="en-US"/>
          </a:p>
          <a:p>
            <a:r>
              <a:rPr lang="en-IN" altLang="en-US"/>
              <a:t>Category (student/ MSME entrepreneur/other ) - </a:t>
            </a:r>
          </a:p>
          <a:p>
            <a:endParaRPr lang="en-IN" altLang="en-US"/>
          </a:p>
          <a:p>
            <a:r>
              <a:rPr lang="en-IN" altLang="en-US"/>
              <a:t>Age -</a:t>
            </a:r>
          </a:p>
          <a:p>
            <a:endParaRPr lang="en-IN" altLang="en-US"/>
          </a:p>
          <a:p>
            <a:r>
              <a:rPr lang="en-IN" altLang="en-US">
                <a:sym typeface="+mn-ea"/>
              </a:rPr>
              <a:t>Gender - </a:t>
            </a:r>
            <a:r>
              <a:rPr lang="en-IN" altLang="en-US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2205</Words>
  <Application>Microsoft Office PowerPoint</Application>
  <PresentationFormat>On-screen Show (16:9)</PresentationFormat>
  <Paragraphs>113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Simple Light</vt:lpstr>
      <vt:lpstr>Prestige Institute of Engineering Management and Research Indore MP   </vt:lpstr>
      <vt:lpstr>  </vt:lpstr>
      <vt:lpstr>Problem statement</vt:lpstr>
      <vt:lpstr>Solution </vt:lpstr>
      <vt:lpstr>Demo of Technology </vt:lpstr>
      <vt:lpstr>Literature Survey &amp; IP</vt:lpstr>
      <vt:lpstr>End User</vt:lpstr>
      <vt:lpstr>Commercialization Model</vt:lpstr>
      <vt:lpstr>Milestones </vt:lpstr>
      <vt:lpstr>Funding ASK &amp; Budget</vt:lpstr>
      <vt:lpstr>TEAM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Prestige Institute of Engineering Management and Research Indore MP   </dc:title>
  <dc:creator>Rekha</dc:creator>
  <cp:lastModifiedBy>samriddhigupta372@gmail.com</cp:lastModifiedBy>
  <cp:revision>11</cp:revision>
  <dcterms:created xsi:type="dcterms:W3CDTF">2026-08-01T11:30:51Z</dcterms:created>
  <dcterms:modified xsi:type="dcterms:W3CDTF">2026-08-10T08:42:49Z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F4B2C0BB86624F859C1DB7FB92423591_12</vt:lpwstr>
  </property>
</Properties>
</file>